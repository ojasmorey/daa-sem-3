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Dijkstra’s algorithm as a greedy algorithm for finding shortest paths from one source in a graph with non-negative edge weights. In the example on the slide, the minimum-cost route from A to E is A → C → B → D → E. Its cost is 1 + 2 + 1 + 3 =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graph is weighted because each edge carries a cost, and directed because you can only move in the direction of an arrow. The task is not to minimize the number of edges; it is to minimize the sum of the weights. In this example, route A → B → E costs 11, route A → C → D → E costs 9, and the shortest route A → C → B → D → E costs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initialize the source distance to zero and all other distances to infinity. A min-heap makes it efficient to retrieve the vertex with the smallest tentative distance. For every outgoing edge from the selected vertex u to v, calculate the current distance to u plus the edge weight. If that candidate is smaller than the stored distance to v, update the distance and predecessor. Continue until all relevant vertices have been processed.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distance table. After processing A, the initial distances are B = 4 and C = 1, so C is processed next. From C, B improves from 4 to 3 and D becomes 6. Processing B improves D from 6 to 4 and makes E equal to 10. Processing D improves E from 10 to 7. The final shortest route is A → C → B → D → E with cost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 adjacency-list graph with a binary min-heap, the standard time bound is O((V + E) log V), and space is O(V + E). Here V is the number of vertices and E is the number of edges. Dijkstra’s algorithm assumes non-negative edge weights. Summarize the method as three repeated actions: pop the smallest distance, relax outgoing edges, and update the 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83096"/>
            <a:ext cx="11183112" cy="0"/>
          </a:xfrm>
          <a:prstGeom prst="line">
            <a:avLst/>
          </a:prstGeom>
          <a:noFill/>
          <a:ln w="10160">
            <a:solidFill>
              <a:srgbClr val="DCE4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47104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73819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&amp; ANALYSIS OF ALGORITHMS  •  DIJKSTRA’S ALGORITHM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819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819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109728" cy="384048"/>
          </a:xfrm>
          <a:prstGeom prst="roundRect">
            <a:avLst>
              <a:gd name="adj" fmla="val 41667"/>
            </a:avLst>
          </a:prstGeom>
          <a:solidFill>
            <a:srgbClr val="11A998"/>
          </a:solidFill>
          <a:ln w="12700">
            <a:solidFill>
              <a:srgbClr val="11A99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47548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&amp; ANALYSIS OF ALGORITHMS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850392"/>
            <a:ext cx="55778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00" b="1" dirty="0">
                <a:solidFill>
                  <a:srgbClr val="13233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Dijkstra’s</a:t>
            </a:r>
            <a:endParaRPr lang="en-US" sz="35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500" b="1" dirty="0">
                <a:solidFill>
                  <a:srgbClr val="13233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Algorithm</a:t>
            </a:r>
            <a:endParaRPr lang="en-US" sz="35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084832"/>
            <a:ext cx="56692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the minimum-cost path in a weighted, directed graph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670048"/>
            <a:ext cx="2542032" cy="265176"/>
          </a:xfrm>
          <a:prstGeom prst="roundRect">
            <a:avLst>
              <a:gd name="adj" fmla="val 48276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67919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56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SHORTEST-PATH ALGORITHM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3154680"/>
            <a:ext cx="7818120" cy="290779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E1E8F2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 flipV="1">
            <a:off x="1668891" y="3858419"/>
            <a:ext cx="1389667" cy="604203"/>
          </a:xfrm>
          <a:prstGeom prst="line">
            <a:avLst/>
          </a:prstGeom>
          <a:noFill/>
          <a:ln w="17780">
            <a:solidFill>
              <a:srgbClr val="AAB7C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52828" y="3840480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61972" y="3849624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66638" y="4686421"/>
            <a:ext cx="1394173" cy="639838"/>
          </a:xfrm>
          <a:prstGeom prst="line">
            <a:avLst/>
          </a:prstGeom>
          <a:noFill/>
          <a:ln w="33020">
            <a:solidFill>
              <a:srgbClr val="11A99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016252" y="5015484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DDF7F2"/>
          </a:solidFill>
          <a:ln w="7620">
            <a:solidFill>
              <a:srgbClr val="B8E9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25396" y="5024628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flipV="1">
            <a:off x="3310128" y="4023360"/>
            <a:ext cx="914" cy="1143000"/>
          </a:xfrm>
          <a:prstGeom prst="line">
            <a:avLst/>
          </a:prstGeom>
          <a:noFill/>
          <a:ln w="33020">
            <a:solidFill>
              <a:srgbClr val="11A99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46704" y="4475988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DDF7F2"/>
          </a:solidFill>
          <a:ln w="7620">
            <a:solidFill>
              <a:srgbClr val="B8E9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55848" y="4485132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62995" y="3855386"/>
            <a:ext cx="1451081" cy="610268"/>
          </a:xfrm>
          <a:prstGeom prst="line">
            <a:avLst/>
          </a:prstGeom>
          <a:noFill/>
          <a:ln w="33020">
            <a:solidFill>
              <a:srgbClr val="11A99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087368" y="3840480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DDF7F2"/>
          </a:solidFill>
          <a:ln w="7620">
            <a:solidFill>
              <a:srgbClr val="B8E9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96512" y="3849624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 flipV="1">
            <a:off x="3560853" y="4683303"/>
            <a:ext cx="1455366" cy="646074"/>
          </a:xfrm>
          <a:prstGeom prst="line">
            <a:avLst/>
          </a:prstGeom>
          <a:noFill/>
          <a:ln w="17780">
            <a:solidFill>
              <a:srgbClr val="AAB7C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187952" y="5097780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97096" y="5106924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84448" y="3749040"/>
            <a:ext cx="3273552" cy="914"/>
          </a:xfrm>
          <a:prstGeom prst="line">
            <a:avLst/>
          </a:prstGeom>
          <a:noFill/>
          <a:ln w="17780">
            <a:solidFill>
              <a:srgbClr val="AAB7C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11496" y="3401568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0" y="3410712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V="1">
            <a:off x="5517924" y="3859767"/>
            <a:ext cx="1363415" cy="601507"/>
          </a:xfrm>
          <a:prstGeom prst="line">
            <a:avLst/>
          </a:prstGeom>
          <a:noFill/>
          <a:ln w="33020">
            <a:solidFill>
              <a:srgbClr val="11A99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63056" y="3913632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DDF7F2"/>
          </a:solidFill>
          <a:ln w="7620">
            <a:solidFill>
              <a:srgbClr val="B8E9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72200" y="3922776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70432" y="4325112"/>
            <a:ext cx="493776" cy="493776"/>
          </a:xfrm>
          <a:prstGeom prst="ellipse">
            <a:avLst/>
          </a:prstGeom>
          <a:solidFill>
            <a:srgbClr val="13233F"/>
          </a:solidFill>
          <a:ln w="21590">
            <a:solidFill>
              <a:srgbClr val="13233F"/>
            </a:solidFill>
            <a:prstDash val="solid"/>
          </a:ln>
          <a:effectLst>
            <a:outerShdw sx="100000" sy="100000" kx="0" ky="0" algn="bl" rotWithShape="0" blurRad="12700" dist="50800" dir="2700000">
              <a:srgbClr val="61718A">
                <a:alpha val="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1170432" y="4329684"/>
            <a:ext cx="493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63240" y="3502152"/>
            <a:ext cx="493776" cy="493776"/>
          </a:xfrm>
          <a:prstGeom prst="ellipse">
            <a:avLst/>
          </a:prstGeom>
          <a:solidFill>
            <a:srgbClr val="DDF7F2"/>
          </a:solidFill>
          <a:ln w="21590">
            <a:solidFill>
              <a:srgbClr val="11A998"/>
            </a:solidFill>
            <a:prstDash val="solid"/>
          </a:ln>
          <a:effectLst>
            <a:outerShdw sx="100000" sy="100000" kx="0" ky="0" algn="bl" rotWithShape="0" blurRad="12700" dist="50800" dir="2700000">
              <a:srgbClr val="61718A">
                <a:alpha val="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3063240" y="3506724"/>
            <a:ext cx="493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63240" y="5193792"/>
            <a:ext cx="493776" cy="493776"/>
          </a:xfrm>
          <a:prstGeom prst="ellipse">
            <a:avLst/>
          </a:prstGeom>
          <a:solidFill>
            <a:srgbClr val="DDF7F2"/>
          </a:solidFill>
          <a:ln w="21590">
            <a:solidFill>
              <a:srgbClr val="11A998"/>
            </a:solidFill>
            <a:prstDash val="solid"/>
          </a:ln>
          <a:effectLst>
            <a:outerShdw sx="100000" sy="100000" kx="0" ky="0" algn="bl" rotWithShape="0" blurRad="12700" dist="50800" dir="2700000">
              <a:srgbClr val="61718A">
                <a:alpha val="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3063240" y="5198364"/>
            <a:ext cx="493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0056" y="4325112"/>
            <a:ext cx="493776" cy="493776"/>
          </a:xfrm>
          <a:prstGeom prst="ellipse">
            <a:avLst/>
          </a:prstGeom>
          <a:solidFill>
            <a:srgbClr val="DDF7F2"/>
          </a:solidFill>
          <a:ln w="21590">
            <a:solidFill>
              <a:srgbClr val="11A998"/>
            </a:solidFill>
            <a:prstDash val="solid"/>
          </a:ln>
          <a:effectLst>
            <a:outerShdw sx="100000" sy="100000" kx="0" ky="0" algn="bl" rotWithShape="0" blurRad="12700" dist="50800" dir="2700000">
              <a:srgbClr val="61718A">
                <a:alpha val="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5020056" y="4329684"/>
            <a:ext cx="493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85432" y="3502152"/>
            <a:ext cx="493776" cy="493776"/>
          </a:xfrm>
          <a:prstGeom prst="ellipse">
            <a:avLst/>
          </a:prstGeom>
          <a:solidFill>
            <a:srgbClr val="DDF7F2"/>
          </a:solidFill>
          <a:ln w="21590">
            <a:solidFill>
              <a:srgbClr val="11A998"/>
            </a:solidFill>
            <a:prstDash val="solid"/>
          </a:ln>
          <a:effectLst>
            <a:outerShdw sx="100000" sy="100000" kx="0" ky="0" algn="bl" rotWithShape="0" blurRad="12700" dist="50800" dir="2700000">
              <a:srgbClr val="61718A">
                <a:alpha val="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85432" y="3506724"/>
            <a:ext cx="4937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796528" y="1316736"/>
            <a:ext cx="1554480" cy="265176"/>
          </a:xfrm>
          <a:prstGeom prst="roundRect">
            <a:avLst>
              <a:gd name="adj" fmla="val 48276"/>
            </a:avLst>
          </a:prstGeom>
          <a:solidFill>
            <a:srgbClr val="DDF7F2"/>
          </a:solidFill>
          <a:ln w="12700">
            <a:solidFill>
              <a:srgbClr val="DDF7F2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851392" y="132588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SHORTEST ROUTE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641080" y="1691640"/>
            <a:ext cx="2907792" cy="4370832"/>
          </a:xfrm>
          <a:prstGeom prst="roundRect">
            <a:avLst>
              <a:gd name="adj" fmla="val 3774"/>
            </a:avLst>
          </a:prstGeom>
          <a:solidFill>
            <a:srgbClr val="13233F"/>
          </a:solidFill>
          <a:ln w="10160">
            <a:solidFill>
              <a:srgbClr val="13233F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96112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C7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cost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8961120" y="2404872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7</a:t>
            </a:r>
            <a:endParaRPr lang="en-US" sz="6400" dirty="0"/>
          </a:p>
        </p:txBody>
      </p:sp>
      <p:sp>
        <p:nvSpPr>
          <p:cNvPr id="46" name="Shape 44"/>
          <p:cNvSpPr/>
          <p:nvPr/>
        </p:nvSpPr>
        <p:spPr>
          <a:xfrm>
            <a:off x="8961120" y="3456432"/>
            <a:ext cx="2194560" cy="0"/>
          </a:xfrm>
          <a:prstGeom prst="line">
            <a:avLst/>
          </a:prstGeom>
          <a:noFill/>
          <a:ln w="12700">
            <a:solidFill>
              <a:srgbClr val="40547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778240" y="3730752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 →  C  →  B  →  D  →  E</a:t>
            </a:r>
            <a:endParaRPr lang="en-US" sz="1320" dirty="0"/>
          </a:p>
        </p:txBody>
      </p:sp>
      <p:sp>
        <p:nvSpPr>
          <p:cNvPr id="48" name="Text 46"/>
          <p:cNvSpPr txBox="1"/>
          <p:nvPr/>
        </p:nvSpPr>
        <p:spPr>
          <a:xfrm>
            <a:off x="8979408" y="4507992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E5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+  2  +  1  +  3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979408" y="5074920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E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nearest vertex,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5DE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relax its outgoing edges, repeat.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795528" y="61722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IDEA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1600200" y="612648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choice + repeated edge relaxation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819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109728" cy="384048"/>
          </a:xfrm>
          <a:prstGeom prst="roundRect">
            <a:avLst>
              <a:gd name="adj" fmla="val 41667"/>
            </a:avLst>
          </a:prstGeom>
          <a:solidFill>
            <a:srgbClr val="11A998"/>
          </a:solidFill>
          <a:ln w="12700">
            <a:solidFill>
              <a:srgbClr val="11A99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70" kern="0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33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What problem are we solving?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22529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minimum total edge weight from one source to every reachable vertex.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138928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E1E8F2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1956816"/>
            <a:ext cx="1700784" cy="265176"/>
          </a:xfrm>
          <a:prstGeom prst="roundRect">
            <a:avLst>
              <a:gd name="adj" fmla="val 48276"/>
            </a:avLst>
          </a:prstGeom>
          <a:solidFill>
            <a:srgbClr val="E6F0FF"/>
          </a:solidFill>
          <a:ln w="12700">
            <a:solidFill>
              <a:srgbClr val="E6F0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196596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3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+ DIRECTED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 flipV="1">
            <a:off x="1441019" y="2977785"/>
            <a:ext cx="1251051" cy="765270"/>
          </a:xfrm>
          <a:prstGeom prst="line">
            <a:avLst/>
          </a:prstGeom>
          <a:noFill/>
          <a:ln w="17780">
            <a:solidFill>
              <a:srgbClr val="AAB7C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755648" y="3040380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64792" y="3049524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35443" y="4038085"/>
            <a:ext cx="1262202" cy="839230"/>
          </a:xfrm>
          <a:prstGeom prst="line">
            <a:avLst/>
          </a:prstGeom>
          <a:noFill/>
          <a:ln w="33020">
            <a:solidFill>
              <a:srgbClr val="11A99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719072" y="4466844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DDF7F2"/>
          </a:solidFill>
          <a:ln w="7620">
            <a:solidFill>
              <a:srgbClr val="B8E9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28216" y="4475988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flipV="1">
            <a:off x="2926080" y="3108960"/>
            <a:ext cx="914" cy="1645920"/>
          </a:xfrm>
          <a:prstGeom prst="line">
            <a:avLst/>
          </a:prstGeom>
          <a:noFill/>
          <a:ln w="33020">
            <a:solidFill>
              <a:srgbClr val="11A99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62656" y="3813048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DDF7F2"/>
          </a:solidFill>
          <a:ln w="7620">
            <a:solidFill>
              <a:srgbClr val="B8E9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71800" y="3822192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47383" y="2996741"/>
            <a:ext cx="993003" cy="727359"/>
          </a:xfrm>
          <a:prstGeom prst="line">
            <a:avLst/>
          </a:prstGeom>
          <a:noFill/>
          <a:ln w="33020">
            <a:solidFill>
              <a:srgbClr val="11A99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42716" y="3040380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DDF7F2"/>
          </a:solidFill>
          <a:ln w="7620">
            <a:solidFill>
              <a:srgbClr val="B8E9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51860" y="3049524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 flipV="1">
            <a:off x="3140687" y="4057066"/>
            <a:ext cx="1006393" cy="801268"/>
          </a:xfrm>
          <a:prstGeom prst="line">
            <a:avLst/>
          </a:prstGeom>
          <a:noFill/>
          <a:ln w="17780">
            <a:solidFill>
              <a:srgbClr val="AAB7C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543300" y="4549140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52444" y="4558284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1847088" cy="914"/>
          </a:xfrm>
          <a:prstGeom prst="line">
            <a:avLst/>
          </a:prstGeom>
          <a:noFill/>
          <a:ln w="17780">
            <a:solidFill>
              <a:srgbClr val="AAB7C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14216" y="2487168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23360" y="2496312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 flipV="1">
            <a:off x="4546654" y="3037221"/>
            <a:ext cx="590189" cy="646397"/>
          </a:xfrm>
          <a:prstGeom prst="line">
            <a:avLst/>
          </a:prstGeom>
          <a:noFill/>
          <a:ln w="33020">
            <a:solidFill>
              <a:srgbClr val="11A99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05172" y="3113532"/>
            <a:ext cx="292608" cy="237744"/>
          </a:xfrm>
          <a:prstGeom prst="roundRect">
            <a:avLst>
              <a:gd name="adj" fmla="val 30769"/>
            </a:avLst>
          </a:prstGeom>
          <a:solidFill>
            <a:srgbClr val="DDF7F2"/>
          </a:solidFill>
          <a:ln w="7620">
            <a:solidFill>
              <a:srgbClr val="B8E9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14316" y="3122676"/>
            <a:ext cx="274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78408" y="3657600"/>
            <a:ext cx="457200" cy="457200"/>
          </a:xfrm>
          <a:prstGeom prst="ellipse">
            <a:avLst/>
          </a:prstGeom>
          <a:solidFill>
            <a:srgbClr val="13233F"/>
          </a:solidFill>
          <a:ln w="21590">
            <a:solidFill>
              <a:srgbClr val="13233F"/>
            </a:solidFill>
            <a:prstDash val="solid"/>
          </a:ln>
          <a:effectLst>
            <a:outerShdw sx="100000" sy="100000" kx="0" ky="0" algn="bl" rotWithShape="0" blurRad="12700" dist="50800" dir="2700000">
              <a:srgbClr val="61718A">
                <a:alpha val="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78408" y="3662172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697480" y="2606040"/>
            <a:ext cx="457200" cy="457200"/>
          </a:xfrm>
          <a:prstGeom prst="ellipse">
            <a:avLst/>
          </a:prstGeom>
          <a:solidFill>
            <a:srgbClr val="DDF7F2"/>
          </a:solidFill>
          <a:ln w="21590">
            <a:solidFill>
              <a:srgbClr val="11A998"/>
            </a:solidFill>
            <a:prstDash val="solid"/>
          </a:ln>
          <a:effectLst>
            <a:outerShdw sx="100000" sy="100000" kx="0" ky="0" algn="bl" rotWithShape="0" blurRad="12700" dist="50800" dir="2700000">
              <a:srgbClr val="61718A">
                <a:alpha val="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2697480" y="2610612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97480" y="4800600"/>
            <a:ext cx="457200" cy="457200"/>
          </a:xfrm>
          <a:prstGeom prst="ellipse">
            <a:avLst/>
          </a:prstGeom>
          <a:solidFill>
            <a:srgbClr val="DDF7F2"/>
          </a:solidFill>
          <a:ln w="21590">
            <a:solidFill>
              <a:srgbClr val="11A998"/>
            </a:solidFill>
            <a:prstDash val="solid"/>
          </a:ln>
          <a:effectLst>
            <a:outerShdw sx="100000" sy="100000" kx="0" ky="0" algn="bl" rotWithShape="0" blurRad="12700" dist="50800" dir="2700000">
              <a:srgbClr val="61718A">
                <a:alpha val="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2697480" y="4805172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33088" y="3657600"/>
            <a:ext cx="457200" cy="457200"/>
          </a:xfrm>
          <a:prstGeom prst="ellipse">
            <a:avLst/>
          </a:prstGeom>
          <a:solidFill>
            <a:srgbClr val="DDF7F2"/>
          </a:solidFill>
          <a:ln w="21590">
            <a:solidFill>
              <a:srgbClr val="11A998"/>
            </a:solidFill>
            <a:prstDash val="solid"/>
          </a:ln>
          <a:effectLst>
            <a:outerShdw sx="100000" sy="100000" kx="0" ky="0" algn="bl" rotWithShape="0" blurRad="12700" dist="50800" dir="2700000">
              <a:srgbClr val="61718A">
                <a:alpha val="8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4133088" y="3662172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93208" y="2606040"/>
            <a:ext cx="457200" cy="457200"/>
          </a:xfrm>
          <a:prstGeom prst="ellipse">
            <a:avLst/>
          </a:prstGeom>
          <a:solidFill>
            <a:srgbClr val="DDF7F2"/>
          </a:solidFill>
          <a:ln w="21590">
            <a:solidFill>
              <a:srgbClr val="11A998"/>
            </a:solidFill>
            <a:prstDash val="solid"/>
          </a:ln>
          <a:effectLst>
            <a:outerShdw sx="100000" sy="100000" kx="0" ky="0" algn="bl" rotWithShape="0" blurRad="12700" dist="50800" dir="2700000">
              <a:srgbClr val="61718A">
                <a:alpha val="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5093208" y="2610612"/>
            <a:ext cx="457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68680" y="5669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vertex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847088" y="5779008"/>
            <a:ext cx="329184" cy="0"/>
          </a:xfrm>
          <a:prstGeom prst="line">
            <a:avLst/>
          </a:prstGeom>
          <a:noFill/>
          <a:ln w="31750">
            <a:solidFill>
              <a:srgbClr val="13233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304288" y="566928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Shortest path edges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941064" y="5779008"/>
            <a:ext cx="310896" cy="0"/>
          </a:xfrm>
          <a:prstGeom prst="line">
            <a:avLst/>
          </a:prstGeom>
          <a:noFill/>
          <a:ln w="31750">
            <a:solidFill>
              <a:srgbClr val="11A99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8680" y="60167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weight = travel cost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61264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possible routes from A to 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080760" y="2395728"/>
            <a:ext cx="55321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1E8F2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6345936" y="2560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→ B → 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6355080" y="29077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+ 7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720072" y="2578608"/>
            <a:ext cx="731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2500" dirty="0"/>
          </a:p>
        </p:txBody>
      </p:sp>
      <p:sp>
        <p:nvSpPr>
          <p:cNvPr id="51" name="Shape 49"/>
          <p:cNvSpPr/>
          <p:nvPr/>
        </p:nvSpPr>
        <p:spPr>
          <a:xfrm>
            <a:off x="10424160" y="2706624"/>
            <a:ext cx="914400" cy="265176"/>
          </a:xfrm>
          <a:prstGeom prst="roundRect">
            <a:avLst>
              <a:gd name="adj" fmla="val 48276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479024" y="27157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EXPENSIVE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6080760" y="3529584"/>
            <a:ext cx="553212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E1E8F2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6345936" y="369417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→ C → D → E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355080" y="4041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+ 5 + 3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9720072" y="3712464"/>
            <a:ext cx="731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2500" dirty="0"/>
          </a:p>
        </p:txBody>
      </p:sp>
      <p:sp>
        <p:nvSpPr>
          <p:cNvPr id="57" name="Shape 55"/>
          <p:cNvSpPr/>
          <p:nvPr/>
        </p:nvSpPr>
        <p:spPr>
          <a:xfrm>
            <a:off x="10424160" y="3840480"/>
            <a:ext cx="914400" cy="265176"/>
          </a:xfrm>
          <a:prstGeom prst="roundRect">
            <a:avLst>
              <a:gd name="adj" fmla="val 48276"/>
            </a:avLst>
          </a:prstGeom>
          <a:solidFill>
            <a:srgbClr val="FFF1D6"/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479024" y="384962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9460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6080760" y="4663440"/>
            <a:ext cx="5532120" cy="932688"/>
          </a:xfrm>
          <a:prstGeom prst="roundRect">
            <a:avLst>
              <a:gd name="adj" fmla="val 11765"/>
            </a:avLst>
          </a:prstGeom>
          <a:solidFill>
            <a:srgbClr val="F0FCF9"/>
          </a:solidFill>
          <a:ln w="10160">
            <a:solidFill>
              <a:srgbClr val="9DDDD3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6345936" y="48280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→ C → B → D → E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6355080" y="51755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+ 2 + 1 + 3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9720072" y="4846320"/>
            <a:ext cx="731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2500" dirty="0"/>
          </a:p>
        </p:txBody>
      </p:sp>
      <p:sp>
        <p:nvSpPr>
          <p:cNvPr id="63" name="Shape 61"/>
          <p:cNvSpPr/>
          <p:nvPr/>
        </p:nvSpPr>
        <p:spPr>
          <a:xfrm>
            <a:off x="10424160" y="4974336"/>
            <a:ext cx="914400" cy="265176"/>
          </a:xfrm>
          <a:prstGeom prst="roundRect">
            <a:avLst>
              <a:gd name="adj" fmla="val 48276"/>
            </a:avLst>
          </a:prstGeom>
          <a:solidFill>
            <a:srgbClr val="DDF7F2"/>
          </a:solidFill>
          <a:ln w="12700">
            <a:solidFill>
              <a:srgbClr val="DDF7F2">
                <a:alpha val="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479024" y="49834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SHORTEST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6080760" y="5852160"/>
            <a:ext cx="5532120" cy="365760"/>
          </a:xfrm>
          <a:prstGeom prst="roundRect">
            <a:avLst>
              <a:gd name="adj" fmla="val 30000"/>
            </a:avLst>
          </a:prstGeom>
          <a:solidFill>
            <a:srgbClr val="13233F"/>
          </a:solidFill>
          <a:ln w="10160">
            <a:solidFill>
              <a:srgbClr val="13233F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6309360" y="5916168"/>
            <a:ext cx="5074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best route may be indirect — compare total weights.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819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109728" cy="384048"/>
          </a:xfrm>
          <a:prstGeom prst="roundRect">
            <a:avLst>
              <a:gd name="adj" fmla="val 41667"/>
            </a:avLst>
          </a:prstGeom>
          <a:solidFill>
            <a:srgbClr val="11A998"/>
          </a:solidFill>
          <a:ln w="12700">
            <a:solidFill>
              <a:srgbClr val="11A99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70" kern="0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ALGORITHM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33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How Dijkstra’s algorithm works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22529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greedy loop guided by a min-heap (priority queue).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2578608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E1E8F2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249424"/>
            <a:ext cx="2093976" cy="0"/>
          </a:xfrm>
          <a:prstGeom prst="line">
            <a:avLst/>
          </a:prstGeom>
          <a:noFill/>
          <a:ln w="31750">
            <a:solidFill>
              <a:srgbClr val="223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2249424"/>
            <a:ext cx="246888" cy="0"/>
          </a:xfrm>
          <a:prstGeom prst="line">
            <a:avLst/>
          </a:prstGeom>
          <a:noFill/>
          <a:ln w="31750">
            <a:solidFill>
              <a:srgbClr val="223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2011680"/>
            <a:ext cx="475488" cy="265176"/>
          </a:xfrm>
          <a:prstGeom prst="roundRect">
            <a:avLst>
              <a:gd name="adj" fmla="val 48276"/>
            </a:avLst>
          </a:prstGeom>
          <a:solidFill>
            <a:srgbClr val="E6F0FF"/>
          </a:solidFill>
          <a:ln w="12700">
            <a:solidFill>
              <a:srgbClr val="E6F0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" y="20208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3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054096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dist[A] = 0;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others = ∞.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63824" y="3118104"/>
            <a:ext cx="164592" cy="0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6976" y="3017520"/>
            <a:ext cx="155448" cy="201168"/>
          </a:xfrm>
          <a:prstGeom prst="chevron">
            <a:avLst/>
          </a:prstGeom>
          <a:solidFill>
            <a:srgbClr val="8C9BB0"/>
          </a:solidFill>
          <a:ln w="12700">
            <a:solidFill>
              <a:srgbClr val="8C9B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874520"/>
            <a:ext cx="2578608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E1E8F2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21024" y="2249424"/>
            <a:ext cx="2093976" cy="0"/>
          </a:xfrm>
          <a:prstGeom prst="line">
            <a:avLst/>
          </a:prstGeom>
          <a:noFill/>
          <a:ln w="31750">
            <a:solidFill>
              <a:srgbClr val="756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68112" y="2249424"/>
            <a:ext cx="246888" cy="0"/>
          </a:xfrm>
          <a:prstGeom prst="line">
            <a:avLst/>
          </a:prstGeom>
          <a:noFill/>
          <a:ln w="31750">
            <a:solidFill>
              <a:srgbClr val="756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2011680"/>
            <a:ext cx="475488" cy="265176"/>
          </a:xfrm>
          <a:prstGeom prst="roundRect">
            <a:avLst>
              <a:gd name="adj" fmla="val 48276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66744" y="20208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56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 minimum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3054096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the vertex with the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smallest tentative distance.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0176" y="3118104"/>
            <a:ext cx="164592" cy="0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3017520"/>
            <a:ext cx="155448" cy="201168"/>
          </a:xfrm>
          <a:prstGeom prst="chevron">
            <a:avLst/>
          </a:prstGeom>
          <a:solidFill>
            <a:srgbClr val="8C9BB0"/>
          </a:solidFill>
          <a:ln w="12700">
            <a:solidFill>
              <a:srgbClr val="8C9B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1874520"/>
            <a:ext cx="2578608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E1E8F2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37376" y="2249424"/>
            <a:ext cx="2093976" cy="0"/>
          </a:xfrm>
          <a:prstGeom prst="line">
            <a:avLst/>
          </a:prstGeom>
          <a:noFill/>
          <a:ln w="31750">
            <a:solidFill>
              <a:srgbClr val="087E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84464" y="2249424"/>
            <a:ext cx="246888" cy="0"/>
          </a:xfrm>
          <a:prstGeom prst="line">
            <a:avLst/>
          </a:prstGeom>
          <a:noFill/>
          <a:ln w="31750">
            <a:solidFill>
              <a:srgbClr val="087E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28232" y="2011680"/>
            <a:ext cx="475488" cy="265176"/>
          </a:xfrm>
          <a:prstGeom prst="roundRect">
            <a:avLst>
              <a:gd name="adj" fmla="val 48276"/>
            </a:avLst>
          </a:prstGeom>
          <a:solidFill>
            <a:srgbClr val="DDF7F2"/>
          </a:solidFill>
          <a:ln w="12700">
            <a:solidFill>
              <a:srgbClr val="DDF7F2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83096" y="20208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428232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Relax edges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428232" y="3054096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dist[u] + w(u,v).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v if this is smaller.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796528" y="3118104"/>
            <a:ext cx="164592" cy="0"/>
          </a:xfrm>
          <a:prstGeom prst="line">
            <a:avLst/>
          </a:prstGeom>
          <a:noFill/>
          <a:ln w="19050">
            <a:solidFill>
              <a:srgbClr val="8C9B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69680" y="3017520"/>
            <a:ext cx="155448" cy="201168"/>
          </a:xfrm>
          <a:prstGeom prst="chevron">
            <a:avLst/>
          </a:prstGeom>
          <a:solidFill>
            <a:srgbClr val="8C9BB0"/>
          </a:solidFill>
          <a:ln w="12700">
            <a:solidFill>
              <a:srgbClr val="8C9B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15984" y="1874520"/>
            <a:ext cx="2578608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0160">
            <a:solidFill>
              <a:srgbClr val="E1E8F2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253728" y="2249424"/>
            <a:ext cx="2093976" cy="0"/>
          </a:xfrm>
          <a:prstGeom prst="line">
            <a:avLst/>
          </a:prstGeom>
          <a:noFill/>
          <a:ln w="31750">
            <a:solidFill>
              <a:srgbClr val="94601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00816" y="2249424"/>
            <a:ext cx="246888" cy="0"/>
          </a:xfrm>
          <a:prstGeom prst="line">
            <a:avLst/>
          </a:prstGeom>
          <a:noFill/>
          <a:ln w="31750">
            <a:solidFill>
              <a:srgbClr val="9460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44584" y="2011680"/>
            <a:ext cx="475488" cy="265176"/>
          </a:xfrm>
          <a:prstGeom prst="roundRect">
            <a:avLst>
              <a:gd name="adj" fmla="val 48276"/>
            </a:avLst>
          </a:prstGeom>
          <a:solidFill>
            <a:srgbClr val="FFF1D6"/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99448" y="20208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60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9244584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9244584" y="3054096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updated distances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continue until done.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66928" y="4645152"/>
            <a:ext cx="6675120" cy="1444752"/>
          </a:xfrm>
          <a:prstGeom prst="roundRect">
            <a:avLst>
              <a:gd name="adj" fmla="val 7595"/>
            </a:avLst>
          </a:prstGeom>
          <a:solidFill>
            <a:srgbClr val="13233F"/>
          </a:solidFill>
          <a:ln w="10160">
            <a:solidFill>
              <a:srgbClr val="13233F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59536" y="4882896"/>
            <a:ext cx="598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40" kern="0" dirty="0">
                <a:solidFill>
                  <a:srgbClr val="8FE5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MIN-HEAP = PROCESS THE LOWEST DISTANCE FIRST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828800" y="5422392"/>
            <a:ext cx="1060704" cy="365760"/>
          </a:xfrm>
          <a:prstGeom prst="roundRect">
            <a:avLst>
              <a:gd name="adj" fmla="val 40000"/>
            </a:avLst>
          </a:prstGeom>
          <a:solidFill>
            <a:srgbClr val="11A998"/>
          </a:solidFill>
          <a:ln w="12700">
            <a:solidFill>
              <a:srgbClr val="11A99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865376" y="545896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(1,C)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10128" y="5394960"/>
            <a:ext cx="1060704" cy="365760"/>
          </a:xfrm>
          <a:prstGeom prst="roundRect">
            <a:avLst>
              <a:gd name="adj" fmla="val 40000"/>
            </a:avLst>
          </a:prstGeom>
          <a:solidFill>
            <a:srgbClr val="7561E8"/>
          </a:solidFill>
          <a:ln w="12700">
            <a:solidFill>
              <a:srgbClr val="7561E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346704" y="543153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(3,B)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28032" y="5394960"/>
            <a:ext cx="1060704" cy="365760"/>
          </a:xfrm>
          <a:prstGeom prst="roundRect">
            <a:avLst>
              <a:gd name="adj" fmla="val 40000"/>
            </a:avLst>
          </a:prstGeom>
          <a:solidFill>
            <a:srgbClr val="4B6287"/>
          </a:solidFill>
          <a:ln w="12700">
            <a:solidFill>
              <a:srgbClr val="4B628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864608" y="543153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(4,D)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14400" y="584301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AD5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smallest key is removed first.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79792" y="4645152"/>
            <a:ext cx="4133088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0160">
            <a:solidFill>
              <a:srgbClr val="E1E8F2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7781544" y="48828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RELAXATION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7772400" y="528523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= dist[u] + weight(u, v)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7772400" y="56875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candidate &lt; dist[v], update dist[v].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819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109728" cy="384048"/>
          </a:xfrm>
          <a:prstGeom prst="roundRect">
            <a:avLst>
              <a:gd name="adj" fmla="val 41667"/>
            </a:avLst>
          </a:prstGeom>
          <a:solidFill>
            <a:srgbClr val="11A998"/>
          </a:solidFill>
          <a:ln w="12700">
            <a:solidFill>
              <a:srgbClr val="11A99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70" kern="0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STEP-BY-STEP TRACE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33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Worked example: start at A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22529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the tentative distances improve as nearer vertices are processed.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6072" y="1691640"/>
            <a:ext cx="11064240" cy="484632"/>
          </a:xfrm>
          <a:prstGeom prst="roundRect">
            <a:avLst>
              <a:gd name="adj" fmla="val 15094"/>
            </a:avLst>
          </a:prstGeom>
          <a:solidFill>
            <a:srgbClr val="13233F"/>
          </a:solidFill>
          <a:ln w="8890">
            <a:solidFill>
              <a:srgbClr val="1323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" y="176479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ITERATION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956816" y="1764792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255264" y="176479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CHANGE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18504" y="1764792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3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DISTANCES (A, B, C, D, 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" y="2176272"/>
            <a:ext cx="11064240" cy="56235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" y="2276856"/>
            <a:ext cx="106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</a:t>
            </a:r>
            <a:endParaRPr lang="en-US" sz="1120" dirty="0"/>
          </a:p>
        </p:txBody>
      </p:sp>
      <p:sp>
        <p:nvSpPr>
          <p:cNvPr id="14" name="Text 12"/>
          <p:cNvSpPr txBox="1"/>
          <p:nvPr/>
        </p:nvSpPr>
        <p:spPr>
          <a:xfrm>
            <a:off x="1956816" y="227685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120" dirty="0"/>
          </a:p>
        </p:txBody>
      </p:sp>
      <p:sp>
        <p:nvSpPr>
          <p:cNvPr id="15" name="Text 13"/>
          <p:cNvSpPr txBox="1"/>
          <p:nvPr/>
        </p:nvSpPr>
        <p:spPr>
          <a:xfrm>
            <a:off x="3255264" y="2276856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dist[A] = 0; others = ∞</a:t>
            </a:r>
            <a:endParaRPr lang="en-US" sz="1120" dirty="0"/>
          </a:p>
        </p:txBody>
      </p:sp>
      <p:sp>
        <p:nvSpPr>
          <p:cNvPr id="16" name="Text 14"/>
          <p:cNvSpPr txBox="1"/>
          <p:nvPr/>
        </p:nvSpPr>
        <p:spPr>
          <a:xfrm>
            <a:off x="6318504" y="2276856"/>
            <a:ext cx="5239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(0, ∞, ∞, ∞, ∞)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" y="2770632"/>
            <a:ext cx="11064240" cy="562356"/>
          </a:xfrm>
          <a:prstGeom prst="roundRect">
            <a:avLst>
              <a:gd name="adj" fmla="val 4878"/>
            </a:avLst>
          </a:prstGeom>
          <a:solidFill>
            <a:srgbClr val="F0F4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" y="2871216"/>
            <a:ext cx="106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20" dirty="0"/>
          </a:p>
        </p:txBody>
      </p:sp>
      <p:sp>
        <p:nvSpPr>
          <p:cNvPr id="19" name="Text 17"/>
          <p:cNvSpPr txBox="1"/>
          <p:nvPr/>
        </p:nvSpPr>
        <p:spPr>
          <a:xfrm>
            <a:off x="1956816" y="28712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120" dirty="0"/>
          </a:p>
        </p:txBody>
      </p:sp>
      <p:sp>
        <p:nvSpPr>
          <p:cNvPr id="20" name="Text 18"/>
          <p:cNvSpPr txBox="1"/>
          <p:nvPr/>
        </p:nvSpPr>
        <p:spPr>
          <a:xfrm>
            <a:off x="3255264" y="2871216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← 4; C ← 1</a:t>
            </a:r>
            <a:endParaRPr lang="en-US" sz="1120" dirty="0"/>
          </a:p>
        </p:txBody>
      </p:sp>
      <p:sp>
        <p:nvSpPr>
          <p:cNvPr id="21" name="Text 19"/>
          <p:cNvSpPr txBox="1"/>
          <p:nvPr/>
        </p:nvSpPr>
        <p:spPr>
          <a:xfrm>
            <a:off x="6318504" y="2871216"/>
            <a:ext cx="5239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(0, 4, 1, ∞, ∞)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" y="3364992"/>
            <a:ext cx="11064240" cy="562356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4944" y="3465576"/>
            <a:ext cx="106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20" dirty="0"/>
          </a:p>
        </p:txBody>
      </p:sp>
      <p:sp>
        <p:nvSpPr>
          <p:cNvPr id="24" name="Text 22"/>
          <p:cNvSpPr txBox="1"/>
          <p:nvPr/>
        </p:nvSpPr>
        <p:spPr>
          <a:xfrm>
            <a:off x="1956816" y="346557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3255264" y="3465576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 improves 4 → 3; D ← 6</a:t>
            </a:r>
            <a:endParaRPr lang="en-US" sz="1120" dirty="0"/>
          </a:p>
        </p:txBody>
      </p:sp>
      <p:sp>
        <p:nvSpPr>
          <p:cNvPr id="26" name="Text 24"/>
          <p:cNvSpPr txBox="1"/>
          <p:nvPr/>
        </p:nvSpPr>
        <p:spPr>
          <a:xfrm>
            <a:off x="6318504" y="3465576"/>
            <a:ext cx="5239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(0, 3, 1, 6, ∞)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" y="3959352"/>
            <a:ext cx="11064240" cy="562356"/>
          </a:xfrm>
          <a:prstGeom prst="roundRect">
            <a:avLst>
              <a:gd name="adj" fmla="val 4878"/>
            </a:avLst>
          </a:prstGeom>
          <a:solidFill>
            <a:srgbClr val="F0F4F9"/>
          </a:solidFill>
          <a:ln w="889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" y="4059936"/>
            <a:ext cx="106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20" dirty="0"/>
          </a:p>
        </p:txBody>
      </p:sp>
      <p:sp>
        <p:nvSpPr>
          <p:cNvPr id="29" name="Text 27"/>
          <p:cNvSpPr txBox="1"/>
          <p:nvPr/>
        </p:nvSpPr>
        <p:spPr>
          <a:xfrm>
            <a:off x="1956816" y="405993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120" dirty="0"/>
          </a:p>
        </p:txBody>
      </p:sp>
      <p:sp>
        <p:nvSpPr>
          <p:cNvPr id="30" name="Text 28"/>
          <p:cNvSpPr txBox="1"/>
          <p:nvPr/>
        </p:nvSpPr>
        <p:spPr>
          <a:xfrm>
            <a:off x="3255264" y="4059936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improves 6 → 4; E ← 10</a:t>
            </a:r>
            <a:endParaRPr lang="en-US" sz="1120" dirty="0"/>
          </a:p>
        </p:txBody>
      </p:sp>
      <p:sp>
        <p:nvSpPr>
          <p:cNvPr id="31" name="Text 29"/>
          <p:cNvSpPr txBox="1"/>
          <p:nvPr/>
        </p:nvSpPr>
        <p:spPr>
          <a:xfrm>
            <a:off x="6318504" y="4059936"/>
            <a:ext cx="5239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(0, 3, 1, 4, 10)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" y="4553712"/>
            <a:ext cx="11064240" cy="562356"/>
          </a:xfrm>
          <a:prstGeom prst="roundRect">
            <a:avLst>
              <a:gd name="adj" fmla="val 4878"/>
            </a:avLst>
          </a:prstGeom>
          <a:solidFill>
            <a:srgbClr val="EFFBF8"/>
          </a:solidFill>
          <a:ln w="8890">
            <a:solidFill>
              <a:srgbClr val="B9E6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4944" y="4654296"/>
            <a:ext cx="106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20" dirty="0"/>
          </a:p>
        </p:txBody>
      </p:sp>
      <p:sp>
        <p:nvSpPr>
          <p:cNvPr id="34" name="Text 32"/>
          <p:cNvSpPr txBox="1"/>
          <p:nvPr/>
        </p:nvSpPr>
        <p:spPr>
          <a:xfrm>
            <a:off x="1956816" y="465429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120" dirty="0"/>
          </a:p>
        </p:txBody>
      </p:sp>
      <p:sp>
        <p:nvSpPr>
          <p:cNvPr id="35" name="Text 33"/>
          <p:cNvSpPr txBox="1"/>
          <p:nvPr/>
        </p:nvSpPr>
        <p:spPr>
          <a:xfrm>
            <a:off x="3255264" y="4654296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improves 10 → 7</a:t>
            </a:r>
            <a:endParaRPr lang="en-US" sz="1120" dirty="0"/>
          </a:p>
        </p:txBody>
      </p:sp>
      <p:sp>
        <p:nvSpPr>
          <p:cNvPr id="36" name="Text 34"/>
          <p:cNvSpPr txBox="1"/>
          <p:nvPr/>
        </p:nvSpPr>
        <p:spPr>
          <a:xfrm>
            <a:off x="6318504" y="4654296"/>
            <a:ext cx="5239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(0, 3, 1, 4, 7)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76072" y="5148072"/>
            <a:ext cx="11064240" cy="562356"/>
          </a:xfrm>
          <a:prstGeom prst="roundRect">
            <a:avLst>
              <a:gd name="adj" fmla="val 4878"/>
            </a:avLst>
          </a:prstGeom>
          <a:solidFill>
            <a:srgbClr val="EFFBF8"/>
          </a:solidFill>
          <a:ln w="8890">
            <a:solidFill>
              <a:srgbClr val="B9E6D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4944" y="5248656"/>
            <a:ext cx="1060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20" dirty="0"/>
          </a:p>
        </p:txBody>
      </p:sp>
      <p:sp>
        <p:nvSpPr>
          <p:cNvPr id="39" name="Text 37"/>
          <p:cNvSpPr txBox="1"/>
          <p:nvPr/>
        </p:nvSpPr>
        <p:spPr>
          <a:xfrm>
            <a:off x="1956816" y="524865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1120" dirty="0"/>
          </a:p>
        </p:txBody>
      </p:sp>
      <p:sp>
        <p:nvSpPr>
          <p:cNvPr id="40" name="Text 38"/>
          <p:cNvSpPr txBox="1"/>
          <p:nvPr/>
        </p:nvSpPr>
        <p:spPr>
          <a:xfrm>
            <a:off x="3255264" y="5248656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D2B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 finalized</a:t>
            </a:r>
            <a:endParaRPr lang="en-US" sz="1120" dirty="0"/>
          </a:p>
        </p:txBody>
      </p:sp>
      <p:sp>
        <p:nvSpPr>
          <p:cNvPr id="41" name="Text 39"/>
          <p:cNvSpPr txBox="1"/>
          <p:nvPr/>
        </p:nvSpPr>
        <p:spPr>
          <a:xfrm>
            <a:off x="6318504" y="5248656"/>
            <a:ext cx="5239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(0, 3, 1, 4, 7)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76072" y="5861304"/>
            <a:ext cx="11064240" cy="429768"/>
          </a:xfrm>
          <a:prstGeom prst="roundRect">
            <a:avLst>
              <a:gd name="adj" fmla="val 25532"/>
            </a:avLst>
          </a:prstGeom>
          <a:solidFill>
            <a:srgbClr val="DDF7F2"/>
          </a:solidFill>
          <a:ln w="10160">
            <a:solidFill>
              <a:srgbClr val="B7E6DE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804672" y="594360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SHORTEST PATH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2057400" y="5916168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 →  C  →  B  →  D  →  E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644384" y="592531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+ 2 + 1 + 3 = 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819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38912"/>
            <a:ext cx="109728" cy="384048"/>
          </a:xfrm>
          <a:prstGeom prst="roundRect">
            <a:avLst>
              <a:gd name="adj" fmla="val 41667"/>
            </a:avLst>
          </a:prstGeom>
          <a:solidFill>
            <a:srgbClr val="11A998"/>
          </a:solidFill>
          <a:ln w="12700">
            <a:solidFill>
              <a:srgbClr val="11A99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4389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70" kern="0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69494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33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Complexity &amp; when to use it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225296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 with an adjacency list and a binary min-heap.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76072" y="1847088"/>
            <a:ext cx="340156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1E8F2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5528" y="2084832"/>
            <a:ext cx="2962656" cy="265176"/>
          </a:xfrm>
          <a:prstGeom prst="roundRect">
            <a:avLst>
              <a:gd name="adj" fmla="val 48276"/>
            </a:avLst>
          </a:prstGeom>
          <a:solidFill>
            <a:srgbClr val="E6F0FF"/>
          </a:solidFill>
          <a:ln w="12700">
            <a:solidFill>
              <a:srgbClr val="E6F0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209397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23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COMPLEXITY</a:t>
            </a:r>
            <a:endParaRPr lang="en-US" sz="88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587752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O((V + E) log V)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3127248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Heap operations select the next smallest tentative distance.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4178808" y="1847088"/>
            <a:ext cx="3401568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1E8F2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98264" y="2084832"/>
            <a:ext cx="2962656" cy="265176"/>
          </a:xfrm>
          <a:prstGeom prst="roundRect">
            <a:avLst>
              <a:gd name="adj" fmla="val 48276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53128" y="209397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756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 COMPLEXITY</a:t>
            </a:r>
            <a:endParaRPr lang="en-US" sz="88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587752"/>
            <a:ext cx="2980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O(V + E)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489704" y="3127248"/>
            <a:ext cx="2779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vertices, edges, distances, and priority-queue entries.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7781544" y="1847088"/>
            <a:ext cx="382219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1E8F2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01000" y="2084832"/>
            <a:ext cx="3383280" cy="265176"/>
          </a:xfrm>
          <a:prstGeom prst="roundRect">
            <a:avLst>
              <a:gd name="adj" fmla="val 48276"/>
            </a:avLst>
          </a:prstGeom>
          <a:solidFill>
            <a:srgbClr val="FFF1D6"/>
          </a:solidFill>
          <a:ln w="12700">
            <a:solidFill>
              <a:srgbClr val="FFF1D6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55864" y="2093976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9460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CONDITION</a:t>
            </a:r>
            <a:endParaRPr lang="en-US" sz="880" dirty="0"/>
          </a:p>
        </p:txBody>
      </p:sp>
      <p:sp>
        <p:nvSpPr>
          <p:cNvPr id="20" name="Text 18"/>
          <p:cNvSpPr txBox="1"/>
          <p:nvPr/>
        </p:nvSpPr>
        <p:spPr>
          <a:xfrm>
            <a:off x="7991856" y="2587752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Non-negative weights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1272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1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edge weights can make Dijkstra’s greedy choices incorrect.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576072" y="4096512"/>
            <a:ext cx="6537960" cy="1975104"/>
          </a:xfrm>
          <a:prstGeom prst="roundRect">
            <a:avLst>
              <a:gd name="adj" fmla="val 5556"/>
            </a:avLst>
          </a:prstGeom>
          <a:solidFill>
            <a:srgbClr val="13233F"/>
          </a:solidFill>
          <a:ln w="10160">
            <a:solidFill>
              <a:srgbClr val="13233F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86968" y="4379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8FE5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LOOP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6968" y="4855464"/>
            <a:ext cx="347472" cy="347472"/>
          </a:xfrm>
          <a:prstGeom prst="ellipse">
            <a:avLst/>
          </a:prstGeom>
          <a:solidFill>
            <a:srgbClr val="11A998"/>
          </a:solidFill>
          <a:ln w="12700">
            <a:solidFill>
              <a:srgbClr val="11A99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" y="488289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335024" y="485546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80360" y="4855464"/>
            <a:ext cx="347472" cy="347472"/>
          </a:xfrm>
          <a:prstGeom prst="ellipse">
            <a:avLst/>
          </a:prstGeom>
          <a:solidFill>
            <a:srgbClr val="7561E8"/>
          </a:solidFill>
          <a:ln w="12700">
            <a:solidFill>
              <a:srgbClr val="7561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80360" y="488289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328416" y="485546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Relax edges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73752" y="4855464"/>
            <a:ext cx="347472" cy="347472"/>
          </a:xfrm>
          <a:prstGeom prst="ellipse">
            <a:avLst/>
          </a:prstGeom>
          <a:solidFill>
            <a:srgbClr val="4B6287"/>
          </a:solidFill>
          <a:ln w="12700">
            <a:solidFill>
              <a:srgbClr val="4B628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73752" y="4882896"/>
            <a:ext cx="347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321808" y="485546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heap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" y="5522976"/>
            <a:ext cx="5815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D6E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until the heap is empty or the destination is finalized.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88352" y="4096512"/>
            <a:ext cx="4215384" cy="1975104"/>
          </a:xfrm>
          <a:prstGeom prst="roundRect">
            <a:avLst>
              <a:gd name="adj" fmla="val 5556"/>
            </a:avLst>
          </a:prstGeom>
          <a:solidFill>
            <a:srgbClr val="DDF7F2"/>
          </a:solidFill>
          <a:ln w="10160">
            <a:solidFill>
              <a:srgbClr val="B7E6DE"/>
            </a:solidFill>
            <a:prstDash val="solid"/>
          </a:ln>
          <a:effectLst>
            <a:outerShdw sx="100000" sy="100000" kx="0" ky="0" algn="bl" rotWithShape="0" blurRad="19050" dist="50800" dir="2700000">
              <a:srgbClr val="7B8BA5">
                <a:alpha val="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708392" y="4389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REMEMBER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4773168"/>
            <a:ext cx="35478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Initialize  →  Choose min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 Relax  →  Repeat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708392" y="5650992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87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shortest paths, one source at a time.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3819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Dijkstra’s Algorithm — Shortest Paths</dc:title>
  <dc:subject>Design and Analysis of Algorithms — Dijkstra’s Algorithm</dc:subject>
  <dc:creator>OpenAI</dc:creator>
  <cp:lastModifiedBy>OpenAI</cp:lastModifiedBy>
  <cp:revision>1</cp:revision>
  <dcterms:created xsi:type="dcterms:W3CDTF">2026-10-20T09:15:44Z</dcterms:created>
  <dcterms:modified xsi:type="dcterms:W3CDTF">2026-10-20T09:15:44Z</dcterms:modified>
</cp:coreProperties>
</file>